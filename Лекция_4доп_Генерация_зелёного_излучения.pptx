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Calibri"/>
              </a:rPr>
              <a:t>ЛЕКЦИЯ 4-ДОП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EEEEE"/>
                </a:solidFill>
                <a:latin typeface="Calibri"/>
              </a:rPr>
              <a:t>Генерация зелёного излучения (535 нм)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BDE0FF"/>
                </a:solidFill>
                <a:latin typeface="Calibri"/>
              </a:rPr>
              <a:t>для аддитивных технологий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57575"/>
                </a:solidFill>
                <a:latin typeface="Calibri"/>
              </a:rPr>
              <a:t>Медь: от проблемы ИК-обработки к двухпроходной SHG-схеме с термокомпенсацией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57575"/>
                </a:solidFill>
                <a:latin typeface="Calibri"/>
              </a:rPr>
              <a:t>Раскадровка: 8 слайдов • ~28 минут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EEEEE"/>
                </a:solidFill>
                <a:latin typeface="Calibri"/>
              </a:rPr>
              <a:t>2. ПЛАН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418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EEEEEE"/>
                </a:solidFill>
                <a:latin typeface="Cambria Math"/>
              </a:rPr>
              <a:t>1. Почему медь — проблема для ИК-лазеров (A(λ) в цифрах)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EEEEE"/>
                </a:solidFill>
                <a:latin typeface="Calibri"/>
              </a:rPr>
              <a:t>2. Почему зелёный свет решает проблему: 1070 vs 535 нм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EEEEE"/>
                </a:solidFill>
                <a:latin typeface="Calibri"/>
              </a:rPr>
              <a:t>3. Прямая генерация: проблема зелёного диапазона InGaN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EEEEE"/>
                </a:solidFill>
                <a:latin typeface="Calibri"/>
              </a:rPr>
              <a:t>4. Нелинейная оптика: генерация второй гармоники (SHG)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EEEEE"/>
                </a:solidFill>
                <a:latin typeface="Calibri"/>
              </a:rPr>
              <a:t>5. Моё предложение: двухпроходная схема с активной термокомпенсацией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EEEEE"/>
                </a:solidFill>
                <a:latin typeface="Calibri"/>
              </a:rPr>
              <a:t>3. ПОЧЕМУ МЕДЬ — ПРОБЛЕМА ДЛЯ ИК-ЛАЗЕРОВ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EEEEE"/>
                </a:solidFill>
                <a:latin typeface="Cambria Math"/>
              </a:rPr>
              <a:t>A(λ) — доля энергии луча, поглощённая материалом (absorbance)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EEEEE"/>
                </a:solidFill>
                <a:latin typeface="Calibri"/>
              </a:rPr>
              <a:t>1070 нм (иттербиевое волокно): A ≈ 5% — 95% отражается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EEEEE"/>
                </a:solidFill>
                <a:latin typeface="Calibri"/>
              </a:rPr>
              <a:t>5% хватает лишь на тонкий поверхностный слой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EEEEE"/>
                </a:solidFill>
                <a:latin typeface="Calibri"/>
              </a:rPr>
              <a:t>Результат: поры, брызги, несплавления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EEEEE"/>
                </a:solidFill>
                <a:latin typeface="Calibri"/>
              </a:rPr>
              <a:t>535 нм: A = 40–60% — в 8–12 раз больше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EEEEE"/>
                </a:solidFill>
                <a:latin typeface="Calibri"/>
              </a:rPr>
              <a:t>При той же мощности — в 8–12 раз больше энергии в зоне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EEEEE"/>
                </a:solidFill>
                <a:latin typeface="Calibri"/>
              </a:rPr>
              <a:t>Вывод: проблема не в физике, а в экономике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5074920"/>
          <a:ext cx="6217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97280"/>
                <a:gridCol w="338328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Длина волны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EEEEE"/>
                          </a:solidFill>
                          <a:latin typeface="Cambria Math"/>
                        </a:rPr>
                        <a:t>A(λ) меди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Следствие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EEEEE"/>
                          </a:solidFill>
                          <a:latin typeface="Calibri"/>
                        </a:rPr>
                        <a:t>1070 нм (ИК, волокно)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EEEEE"/>
                          </a:solidFill>
                          <a:latin typeface="Calibri"/>
                        </a:rPr>
                        <a:t>≈ 5%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EEEEE"/>
                          </a:solidFill>
                          <a:latin typeface="Calibri"/>
                        </a:rPr>
                        <a:t>95% отражается; поры, брызги, несплавления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EEEEE"/>
                          </a:solidFill>
                          <a:latin typeface="Calibri"/>
                        </a:rPr>
                        <a:t>535 нм (зелёный)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EEEEE"/>
                          </a:solidFill>
                          <a:latin typeface="Calibri"/>
                        </a:rPr>
                        <a:t>40–60%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EEEEE"/>
                          </a:solidFill>
                          <a:latin typeface="Calibri"/>
                        </a:rPr>
                        <a:t>В 8–12 раз больше энергии в зоне; стабильный шов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pic_894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623560" cy="35786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EEEEE"/>
                </a:solidFill>
                <a:latin typeface="Calibri"/>
              </a:rPr>
              <a:t>4. ПРЯМАЯ ГЕНЕРАЦИЯ: ПОЧЕМУ НЕ РАБОТАЕТ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EEEEEE"/>
                </a:solidFill>
                <a:latin typeface="Calibri"/>
              </a:rPr>
              <a:t>InGaN-диоды существуют — но упираются в проблему зелёного диапазона (green gap)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EEEEEE"/>
                </a:solidFill>
                <a:latin typeface="Cambria Math"/>
              </a:rPr>
              <a:t>E = hc/λ; для 535 нм E ≈ 3,7·10</a:t>
            </a:r>
            <a:r>
              <a:rPr sz="910" b="0" baseline="30000">
                <a:solidFill>
                  <a:srgbClr val="EEEEEE"/>
                </a:solidFill>
                <a:latin typeface="Calibri"/>
              </a:rPr>
              <a:t>-19</a:t>
            </a:r>
            <a:r>
              <a:rPr sz="1400" b="0">
                <a:solidFill>
                  <a:srgbClr val="EEEEEE"/>
                </a:solidFill>
                <a:latin typeface="Calibri"/>
              </a:rPr>
              <a:t> Дж ≈ 2,3 эВ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EEEEEE"/>
                </a:solidFill>
                <a:latin typeface="Calibri"/>
              </a:rPr>
              <a:t>Нужна ширина запрещённой зоны 2,3 эВ → &gt;30% индия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EEEEEE"/>
                </a:solidFill>
                <a:latin typeface="Calibri"/>
              </a:rPr>
              <a:t>Крупные атомы In → V-дефекты (ловушки: энергия → тепло)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EEEEEE"/>
                </a:solidFill>
                <a:latin typeface="Calibri"/>
              </a:rPr>
              <a:t>QCSE: пьезополе разводит электрон и дырку — рекомбинация падает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EEEEEE"/>
                </a:solidFill>
                <a:latin typeface="Calibri"/>
              </a:rPr>
              <a:t>Итог: ≤ 0,18 Вт против нужных кВт — разрыв 10 000 раз</a:t>
            </a:r>
          </a:p>
        </p:txBody>
      </p:sp>
      <p:pic>
        <p:nvPicPr>
          <p:cNvPr id="5" name="Picture 4" descr="pic_36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394960"/>
            <a:ext cx="5394960" cy="1206767"/>
          </a:xfrm>
          <a:prstGeom prst="rect">
            <a:avLst/>
          </a:prstGeom>
        </p:spPr>
      </p:pic>
      <p:pic>
        <p:nvPicPr>
          <p:cNvPr id="6" name="Picture 5" descr="pic_247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669280" cy="3607723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0" y="5120640"/>
          <a:ext cx="5760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EEEEE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EEEEE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EEEEE"/>
                          </a:solidFill>
                          <a:latin typeface="Calibri"/>
                        </a:rPr>
                        <a:t>Энергия фотона 535 нм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EEEEEE"/>
                          </a:solidFill>
                          <a:latin typeface="Calibri"/>
                        </a:rPr>
                        <a:t>≈ 3,7·10</a:t>
                      </a:r>
                      <a:r>
                        <a:rPr sz="585" b="0" baseline="30000">
                          <a:solidFill>
                            <a:srgbClr val="EEEEEE"/>
                          </a:solidFill>
                          <a:latin typeface="Calibri"/>
                        </a:rPr>
                        <a:t>-19</a:t>
                      </a:r>
                      <a:r>
                        <a:rPr sz="900" b="0">
                          <a:solidFill>
                            <a:srgbClr val="EEEEEE"/>
                          </a:solidFill>
                          <a:latin typeface="Calibri"/>
                        </a:rPr>
                        <a:t> Дж ≈ 2,3 эВ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EEEEE"/>
                          </a:solidFill>
                          <a:latin typeface="Calibri"/>
                        </a:rPr>
                        <a:t>Нужная ширина запрещённой зоны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EEEEEE"/>
                          </a:solidFill>
                          <a:latin typeface="Calibri"/>
                        </a:rPr>
                        <a:t>2,3 эВ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EEEEE"/>
                          </a:solidFill>
                          <a:latin typeface="Calibri"/>
                        </a:rPr>
                        <a:t>Концентрация индия в InGaN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EEEEEE"/>
                          </a:solidFill>
                          <a:latin typeface="Calibri"/>
                        </a:rPr>
                        <a:t>&gt; 30%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EEEEE"/>
                          </a:solidFill>
                          <a:latin typeface="Calibri"/>
                        </a:rPr>
                        <a:t>Дефекты решётки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EEEEEE"/>
                          </a:solidFill>
                          <a:latin typeface="Calibri"/>
                        </a:rPr>
                        <a:t>V-дефекты (ловушки электронов)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EEEEE"/>
                          </a:solidFill>
                          <a:latin typeface="Calibri"/>
                        </a:rPr>
                        <a:t>Квантово-размерный эффект Штарка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EEEEEE"/>
                          </a:solidFill>
                          <a:latin typeface="Calibri"/>
                        </a:rPr>
                        <a:t>QCSE: e и h разведены полем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EEEEE"/>
                          </a:solidFill>
                          <a:latin typeface="Calibri"/>
                        </a:rPr>
                        <a:t>Мощность лабораторных образцов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EEEEEE"/>
                          </a:solidFill>
                          <a:latin typeface="Calibri"/>
                        </a:rPr>
                        <a:t>≤ 0,18 Вт (нужны кВт)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EEEEE"/>
                </a:solidFill>
                <a:latin typeface="Calibri"/>
              </a:rPr>
              <a:t>5. НЕЛИНЕЙНАЯ ОПТИКА: ВТОРАЯ ГАРМОНИКА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EEEEEE"/>
                </a:solidFill>
                <a:latin typeface="Cambria Math"/>
              </a:rPr>
              <a:t>SHG: 1070 нм (ω) → 535 нм (2ω) в нелинейном кристалле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EEEEEE"/>
                </a:solidFill>
                <a:latin typeface="Cambria Math"/>
              </a:rPr>
              <a:t>Отклик среды: P = ε</a:t>
            </a:r>
            <a:r>
              <a:rPr sz="812" b="0" baseline="-25000">
                <a:solidFill>
                  <a:srgbClr val="EEEEEE"/>
                </a:solidFill>
                <a:latin typeface="Calibri"/>
              </a:rPr>
              <a:t>0</a:t>
            </a:r>
            <a:r>
              <a:rPr sz="1250" b="0">
                <a:solidFill>
                  <a:srgbClr val="EEEEEE"/>
                </a:solidFill>
                <a:latin typeface="Cambria Math"/>
              </a:rPr>
              <a:t>·(χ</a:t>
            </a:r>
            <a:r>
              <a:rPr sz="812" b="0" baseline="30000">
                <a:solidFill>
                  <a:srgbClr val="EEEEEE"/>
                </a:solidFill>
                <a:latin typeface="Calibri"/>
              </a:rPr>
              <a:t>(1)</a:t>
            </a:r>
            <a:r>
              <a:rPr sz="1250" b="0">
                <a:solidFill>
                  <a:srgbClr val="EEEEEE"/>
                </a:solidFill>
                <a:latin typeface="Cambria Math"/>
              </a:rPr>
              <a:t>E + χ</a:t>
            </a:r>
            <a:r>
              <a:rPr sz="812" b="0" baseline="30000">
                <a:solidFill>
                  <a:srgbClr val="EEEEEE"/>
                </a:solidFill>
                <a:latin typeface="Calibri"/>
              </a:rPr>
              <a:t>(2)</a:t>
            </a:r>
            <a:r>
              <a:rPr sz="1250" b="0">
                <a:solidFill>
                  <a:srgbClr val="EEEEEE"/>
                </a:solidFill>
                <a:latin typeface="Calibri"/>
              </a:rPr>
              <a:t>E</a:t>
            </a:r>
            <a:r>
              <a:rPr sz="812" b="0" baseline="30000">
                <a:solidFill>
                  <a:srgbClr val="EEEEEE"/>
                </a:solidFill>
                <a:latin typeface="Calibri"/>
              </a:rPr>
              <a:t>2</a:t>
            </a:r>
            <a:r>
              <a:rPr sz="1250" b="0">
                <a:solidFill>
                  <a:srgbClr val="EEEEEE"/>
                </a:solidFill>
                <a:latin typeface="Cambria Math"/>
              </a:rPr>
              <a:t> + χ</a:t>
            </a:r>
            <a:r>
              <a:rPr sz="812" b="0" baseline="30000">
                <a:solidFill>
                  <a:srgbClr val="EEEEEE"/>
                </a:solidFill>
                <a:latin typeface="Calibri"/>
              </a:rPr>
              <a:t>(3)</a:t>
            </a:r>
            <a:r>
              <a:rPr sz="1250" b="0">
                <a:solidFill>
                  <a:srgbClr val="EEEEEE"/>
                </a:solidFill>
                <a:latin typeface="Calibri"/>
              </a:rPr>
              <a:t>E</a:t>
            </a:r>
            <a:r>
              <a:rPr sz="812" b="0" baseline="30000">
                <a:solidFill>
                  <a:srgbClr val="EEEEEE"/>
                </a:solidFill>
                <a:latin typeface="Calibri"/>
              </a:rPr>
              <a:t>3</a:t>
            </a:r>
            <a:r>
              <a:rPr sz="1250" b="0">
                <a:solidFill>
                  <a:srgbClr val="EEEEEE"/>
                </a:solidFill>
                <a:latin typeface="Calibri"/>
              </a:rPr>
              <a:t> + …)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EEEEEE"/>
                </a:solidFill>
                <a:latin typeface="Cambria Math"/>
              </a:rPr>
              <a:t>Оставляем член χ</a:t>
            </a:r>
            <a:r>
              <a:rPr sz="812" b="0" baseline="30000">
                <a:solidFill>
                  <a:srgbClr val="EEEEEE"/>
                </a:solidFill>
                <a:latin typeface="Calibri"/>
              </a:rPr>
              <a:t>(2)</a:t>
            </a:r>
            <a:r>
              <a:rPr sz="1250" b="0">
                <a:solidFill>
                  <a:srgbClr val="EEEEEE"/>
                </a:solidFill>
                <a:latin typeface="Calibri"/>
              </a:rPr>
              <a:t>·E</a:t>
            </a:r>
            <a:r>
              <a:rPr sz="812" b="0" baseline="30000">
                <a:solidFill>
                  <a:srgbClr val="EEEEEE"/>
                </a:solidFill>
                <a:latin typeface="Calibri"/>
              </a:rPr>
              <a:t>2</a:t>
            </a:r>
            <a:r>
              <a:rPr sz="1250" b="0">
                <a:solidFill>
                  <a:srgbClr val="EEEEEE"/>
                </a:solidFill>
                <a:latin typeface="Calibri"/>
              </a:rPr>
              <a:t> — удвоение частоты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EEEEEE"/>
                </a:solidFill>
                <a:latin typeface="Calibri"/>
              </a:rPr>
              <a:t>cos</a:t>
            </a:r>
            <a:r>
              <a:rPr sz="812" b="0" baseline="30000">
                <a:solidFill>
                  <a:srgbClr val="EEEEEE"/>
                </a:solidFill>
                <a:latin typeface="Calibri"/>
              </a:rPr>
              <a:t>2</a:t>
            </a:r>
            <a:r>
              <a:rPr sz="1250" b="0">
                <a:solidFill>
                  <a:srgbClr val="EEEEEE"/>
                </a:solidFill>
                <a:latin typeface="Cambria Math"/>
              </a:rPr>
              <a:t>(ω·t) = (1 + cos(2ω·t))/2: постоянная часть — оптическое выпрямление, колебательная — 2ω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EEEEEE"/>
                </a:solidFill>
                <a:latin typeface="Cambria Math"/>
              </a:rPr>
              <a:t>λ</a:t>
            </a:r>
            <a:r>
              <a:rPr sz="812" b="0" baseline="-25000">
                <a:solidFill>
                  <a:srgbClr val="EEEEEE"/>
                </a:solidFill>
                <a:latin typeface="Cambria Math"/>
              </a:rPr>
              <a:t>2ω</a:t>
            </a:r>
            <a:r>
              <a:rPr sz="1250" b="0">
                <a:solidFill>
                  <a:srgbClr val="EEEEEE"/>
                </a:solidFill>
                <a:latin typeface="Calibri"/>
              </a:rPr>
              <a:t> = 1070/2 = 535 нм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EEEEEE"/>
                </a:solidFill>
                <a:latin typeface="Calibri"/>
              </a:rPr>
              <a:t>Дисперсия → рассинхронизация → гашение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EEEEEE"/>
                </a:solidFill>
                <a:latin typeface="Cambria Math"/>
              </a:rPr>
              <a:t>PPLN: знак χ</a:t>
            </a:r>
            <a:r>
              <a:rPr sz="812" b="0" baseline="30000">
                <a:solidFill>
                  <a:srgbClr val="EEEEEE"/>
                </a:solidFill>
                <a:latin typeface="Calibri"/>
              </a:rPr>
              <a:t>(2)</a:t>
            </a:r>
            <a:r>
              <a:rPr sz="1250" b="0">
                <a:solidFill>
                  <a:srgbClr val="EEEEEE"/>
                </a:solidFill>
                <a:latin typeface="Cambria Math"/>
              </a:rPr>
              <a:t> меняется каждые Λ ≈ 6,96 мкм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EEEEEE"/>
                </a:solidFill>
                <a:latin typeface="Cambria Math"/>
              </a:rPr>
              <a:t>Условие синхронизма: Δk = k</a:t>
            </a:r>
            <a:r>
              <a:rPr sz="812" b="0" baseline="-25000">
                <a:solidFill>
                  <a:srgbClr val="EEEEEE"/>
                </a:solidFill>
                <a:latin typeface="Cambria Math"/>
              </a:rPr>
              <a:t>2ω</a:t>
            </a:r>
            <a:r>
              <a:rPr sz="1250" b="0">
                <a:solidFill>
                  <a:srgbClr val="EEEEEE"/>
                </a:solidFill>
                <a:latin typeface="Calibri"/>
              </a:rPr>
              <a:t> − 2k</a:t>
            </a:r>
            <a:r>
              <a:rPr sz="812" b="0" baseline="-25000">
                <a:solidFill>
                  <a:srgbClr val="EEEEEE"/>
                </a:solidFill>
                <a:latin typeface="Cambria Math"/>
              </a:rPr>
              <a:t>ω</a:t>
            </a:r>
            <a:r>
              <a:rPr sz="1250" b="0">
                <a:solidFill>
                  <a:srgbClr val="EEEEEE"/>
                </a:solidFill>
                <a:latin typeface="Cambria Math"/>
              </a:rPr>
              <a:t> = 2π/Λ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0" y="1280160"/>
          <a:ext cx="6217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286000"/>
                <a:gridCol w="914400"/>
                <a:gridCol w="2194560"/>
              </a:tblGrid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EEEEE"/>
                          </a:solidFill>
                          <a:latin typeface="Calibri"/>
                        </a:rPr>
                        <a:t>Символ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EEEEE"/>
                          </a:solidFill>
                          <a:latin typeface="Calibri"/>
                        </a:rPr>
                        <a:t>Название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EEEEE"/>
                          </a:solidFill>
                          <a:latin typeface="Calibri"/>
                        </a:rPr>
                        <a:t>Единица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EEEEE"/>
                          </a:solidFill>
                          <a:latin typeface="Calibri"/>
                        </a:rPr>
                        <a:t>Физический смысл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Поляризация среды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Кл/м</a:t>
                      </a:r>
                      <a:r>
                        <a:rPr sz="650" b="0" baseline="30000">
                          <a:solidFill>
                            <a:srgbClr val="EEEEE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Дипольный момент единицы объёма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EEEEE"/>
                          </a:solidFill>
                          <a:latin typeface="Cambria Math"/>
                        </a:rPr>
                        <a:t>ε</a:t>
                      </a:r>
                      <a:r>
                        <a:rPr sz="650" b="0" baseline="-25000">
                          <a:solidFill>
                            <a:srgbClr val="EEEEE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Электрическая постоянная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Ф/м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8,85·10</a:t>
                      </a:r>
                      <a:r>
                        <a:rPr sz="650" b="0" baseline="30000">
                          <a:solidFill>
                            <a:srgbClr val="EEEEEE"/>
                          </a:solidFill>
                          <a:latin typeface="Calibri"/>
                        </a:rPr>
                        <a:t>-12</a:t>
                      </a:r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 Ф/м; Ф (фарад) = Кл/В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Напряжённость поля волны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В/м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Поле лазерного луча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EEEEE"/>
                          </a:solidFill>
                          <a:latin typeface="Cambria Math"/>
                        </a:rPr>
                        <a:t>χ</a:t>
                      </a:r>
                      <a:r>
                        <a:rPr sz="650" b="0" baseline="30000">
                          <a:solidFill>
                            <a:srgbClr val="EEEEEE"/>
                          </a:solidFill>
                          <a:latin typeface="Calibri"/>
                        </a:rPr>
                        <a:t>(1)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Линейная восприимчивость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безразм.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Отвечает за преломление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EEEEE"/>
                          </a:solidFill>
                          <a:latin typeface="Cambria Math"/>
                        </a:rPr>
                        <a:t>χ</a:t>
                      </a:r>
                      <a:r>
                        <a:rPr sz="650" b="0" baseline="30000">
                          <a:solidFill>
                            <a:srgbClr val="EEEEEE"/>
                          </a:solidFill>
                          <a:latin typeface="Calibri"/>
                        </a:rPr>
                        <a:t>(2)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Квадратичная восприимчивость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м/В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Отвечает за удвоение частоты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EEEEE"/>
                          </a:solidFill>
                          <a:latin typeface="Cambria Math"/>
                        </a:rPr>
                        <a:t>χ</a:t>
                      </a:r>
                      <a:r>
                        <a:rPr sz="650" b="0" baseline="30000">
                          <a:solidFill>
                            <a:srgbClr val="EEEEEE"/>
                          </a:solidFill>
                          <a:latin typeface="Calibri"/>
                        </a:rPr>
                        <a:t>(3)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Кубическая восприимчивость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м</a:t>
                      </a:r>
                      <a:r>
                        <a:rPr sz="650" b="0" baseline="30000">
                          <a:solidFill>
                            <a:srgbClr val="EEEEEE"/>
                          </a:solidFill>
                          <a:latin typeface="Calibri"/>
                        </a:rPr>
                        <a:t>2</a:t>
                      </a:r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/В</a:t>
                      </a:r>
                      <a:r>
                        <a:rPr sz="650" b="0" baseline="30000">
                          <a:solidFill>
                            <a:srgbClr val="EEEEE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EEEEE"/>
                          </a:solidFill>
                          <a:latin typeface="Calibri"/>
                        </a:rPr>
                        <a:t>Мала, пренебрегаем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pic_934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611880"/>
            <a:ext cx="5152995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EEEEEE"/>
                </a:solidFill>
                <a:latin typeface="Calibri"/>
              </a:rPr>
              <a:t>6. МОЁ ПРЕДЛОЖЕНИЕ: ДВУХПРОХОДНАЯ СХЕМА С ТЕРМОКОМПЕНСАЦИЕЙ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42976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EEEEEE"/>
                </a:solidFill>
                <a:latin typeface="Calibri"/>
              </a:rPr>
              <a:t>Однопроход: КПД 10–15%; 150 Вт зелёного ← 1 кВт ИК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EEEEEE"/>
                </a:solidFill>
                <a:latin typeface="Calibri"/>
              </a:rPr>
              <a:t>Два прохода: удвоение длины, КПД до 15–20%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EEEEEE"/>
                </a:solidFill>
                <a:latin typeface="Calibri"/>
              </a:rPr>
              <a:t>Печь ±0,1 °C — квазифазовый синхронизм в PPLN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EEEEEE"/>
                </a:solidFill>
                <a:latin typeface="Calibri"/>
              </a:rPr>
              <a:t>Кварцевый клин — компенсация фазы обратного прохода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EEEEEE"/>
                </a:solidFill>
                <a:latin typeface="Calibri"/>
              </a:rPr>
              <a:t>dn/dT ≈ +9·10</a:t>
            </a:r>
            <a:r>
              <a:rPr sz="780" b="0" baseline="30000">
                <a:solidFill>
                  <a:srgbClr val="EEEEEE"/>
                </a:solidFill>
                <a:latin typeface="Calibri"/>
              </a:rPr>
              <a:t>-6</a:t>
            </a:r>
            <a:r>
              <a:rPr sz="1200" b="0">
                <a:solidFill>
                  <a:srgbClr val="EEEEEE"/>
                </a:solidFill>
                <a:latin typeface="Calibri"/>
              </a:rPr>
              <a:t> К</a:t>
            </a:r>
            <a:r>
              <a:rPr sz="780" b="0" baseline="30000">
                <a:solidFill>
                  <a:srgbClr val="EEEEEE"/>
                </a:solidFill>
                <a:latin typeface="Calibri"/>
              </a:rPr>
              <a:t>-1</a:t>
            </a:r>
            <a:r>
              <a:rPr sz="1200" b="0">
                <a:solidFill>
                  <a:srgbClr val="EEEEEE"/>
                </a:solidFill>
                <a:latin typeface="Calibri"/>
              </a:rPr>
              <a:t>; прозрачен на 1070 и 535 нм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EEEEEE"/>
                </a:solidFill>
                <a:latin typeface="Calibri"/>
              </a:rPr>
              <a:t>Прецедент: Imeshev, Fejer (1998); новизна — киловаттный масштаб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EEEEEE"/>
                </a:solidFill>
                <a:latin typeface="Calibri"/>
              </a:rPr>
              <a:t>Экономика: на порядок дешевле готового зелёного лазера</a:t>
            </a:r>
          </a:p>
        </p:txBody>
      </p:sp>
      <p:pic>
        <p:nvPicPr>
          <p:cNvPr id="5" name="Picture 4" descr="pic_551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041648"/>
            <a:ext cx="4125360" cy="2615184"/>
          </a:xfrm>
          <a:prstGeom prst="rect">
            <a:avLst/>
          </a:prstGeom>
        </p:spPr>
      </p:pic>
      <p:pic>
        <p:nvPicPr>
          <p:cNvPr id="6" name="Picture 5" descr="pic_619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243584"/>
            <a:ext cx="6080760" cy="3783584"/>
          </a:xfrm>
          <a:prstGeom prst="rect">
            <a:avLst/>
          </a:prstGeom>
        </p:spPr>
      </p:pic>
      <p:pic>
        <p:nvPicPr>
          <p:cNvPr id="7" name="Picture 6" descr="pic_207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5138928"/>
            <a:ext cx="6995160" cy="14378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EEEEE"/>
                </a:solidFill>
                <a:latin typeface="Calibri"/>
              </a:rPr>
              <a:t>7. ИТОГОВЫЕ ТЕЗИСЫ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EEEEE"/>
                </a:solidFill>
                <a:latin typeface="Calibri"/>
              </a:rPr>
              <a:t>1. Медь: ИК — 5% поглощения, зелёный — 40–60% → зелёный идеален для меди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EEEEE"/>
                </a:solidFill>
                <a:latin typeface="Calibri"/>
              </a:rPr>
              <a:t>2. Прямая генерация: проблема зелёного диапазона, ≤ 0,18 Вт; нужны киловатты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EEEEE"/>
                </a:solidFill>
                <a:latin typeface="Calibri"/>
              </a:rPr>
              <a:t>3. SHG в PPLN: 1070 нм → 535 нм с КПД до 15–20%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EEEEE"/>
                </a:solidFill>
                <a:latin typeface="Calibri"/>
              </a:rPr>
              <a:t>4. Двухпроходная схема с активной клиновидной термокомпенсацией из плавленого кварца — новая инженерная задача на киловаттном уровне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EEEEE"/>
                </a:solidFill>
                <a:latin typeface="Calibri"/>
              </a:rPr>
              <a:t>5. Реализация на порядок дешевле покупки готового зелёного лазера</a:t>
            </a:r>
          </a:p>
        </p:txBody>
      </p:sp>
      <p:pic>
        <p:nvPicPr>
          <p:cNvPr id="5" name="Picture 4" descr="pic_9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3703320"/>
            <a:ext cx="5907024" cy="2953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EEEEE"/>
                </a:solidFill>
                <a:latin typeface="Calibri"/>
              </a:rPr>
              <a:t>8. ЗАКЛЮЧЕНИЕ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EEEEEE"/>
                </a:solidFill>
                <a:latin typeface="Calibri"/>
              </a:rPr>
              <a:t>Медь требует зелёного света: A(535 нм) в 8–12 раз выше, чем на 1070 нм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EEEEE"/>
                </a:solidFill>
                <a:latin typeface="Calibri"/>
              </a:rPr>
              <a:t>Прямая генерация ограничена «проблемой зелёного диапазона» InGaN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EEEEE"/>
                </a:solidFill>
                <a:latin typeface="Cambria Math"/>
              </a:rPr>
              <a:t>Нелинейная оптика (SHG в PPLN, Λ ≈ 6,96 мкм) обходит ограничение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EEEEE"/>
                </a:solidFill>
                <a:latin typeface="Calibri"/>
              </a:rPr>
              <a:t>Моё предложение: двухпроходная схема с клиновидной термокомпенсацией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EEEEE"/>
                </a:solidFill>
                <a:latin typeface="Calibri"/>
              </a:rPr>
              <a:t>Итог: доступные зелёные лазеры (535 нм) для аддитивных технологий</a:t>
            </a:r>
          </a:p>
          <a:p>
            <a:pPr>
              <a:spcAft>
                <a:spcPts val="1400"/>
              </a:spcAft>
            </a:pP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EEEEEE"/>
                </a:solidFill>
                <a:latin typeface="Calibri"/>
              </a:rPr>
              <a:t>Спасибо за внимание. Готов ответить на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